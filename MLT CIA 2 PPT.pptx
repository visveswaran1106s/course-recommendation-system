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71" r:id="rId2"/>
    <p:sldId id="257" r:id="rId3"/>
    <p:sldId id="270" r:id="rId4"/>
    <p:sldId id="258" r:id="rId5"/>
    <p:sldId id="269" r:id="rId6"/>
    <p:sldId id="280" r:id="rId7"/>
    <p:sldId id="281" r:id="rId8"/>
    <p:sldId id="282" r:id="rId9"/>
    <p:sldId id="283" r:id="rId10"/>
    <p:sldId id="284" r:id="rId11"/>
    <p:sldId id="285" r:id="rId12"/>
    <p:sldId id="272" r:id="rId13"/>
    <p:sldId id="278" r:id="rId14"/>
    <p:sldId id="267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428372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:a16="http://schemas.microsoft.com/office/drawing/2014/main" id="{23F64BC7-2C87-483D-8126-1571582E98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headEnd/>
            <a:tailEnd/>
          </a:ln>
        </p:spPr>
      </p:sp>
      <p:sp>
        <p:nvSpPr>
          <p:cNvPr id="7171" name="Notes Placeholder 2">
            <a:extLst>
              <a:ext uri="{FF2B5EF4-FFF2-40B4-BE49-F238E27FC236}">
                <a16:creationId xmlns:a16="http://schemas.microsoft.com/office/drawing/2014/main" id="{417BCAEA-57D9-FF64-824F-752BB422CA2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SzPts val="1100"/>
              <a:buFont typeface="Arial" panose="020B0604020202020204" pitchFamily="34" charset="0"/>
              <a:buChar char="●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8736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fd1057461b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fd1057461b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2185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D79CEF68-5E93-3E4E-B7DD-64AFDC9AB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d1057461b_0_17:notes">
            <a:extLst>
              <a:ext uri="{FF2B5EF4-FFF2-40B4-BE49-F238E27FC236}">
                <a16:creationId xmlns:a16="http://schemas.microsoft.com/office/drawing/2014/main" id="{5B53010E-8998-92F5-E287-D6A5529904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d1057461b_0_17:notes">
            <a:extLst>
              <a:ext uri="{FF2B5EF4-FFF2-40B4-BE49-F238E27FC236}">
                <a16:creationId xmlns:a16="http://schemas.microsoft.com/office/drawing/2014/main" id="{C10E95EB-6593-17F0-871A-BF22D08E19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2764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d1057461b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d1057461b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77229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fd1057461b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fd1057461b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6267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4041648" cy="3703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912114"/>
            <a:ext cx="4041648" cy="3703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750A1B5E-3E5A-FE16-A2CA-208539DCB9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400800" y="4767263"/>
            <a:ext cx="2289175" cy="274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Font typeface="Arial" panose="020B0604020202020204" pitchFamily="34" charset="0"/>
              <a:buNone/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A6DFB2D-6287-4387-9392-754C26A433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2898775" y="4767263"/>
            <a:ext cx="3505200" cy="274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Font typeface="Arial" panose="020B0604020202020204" pitchFamily="34" charset="0"/>
              <a:buNone/>
              <a:defRPr/>
            </a:lvl1pPr>
          </a:lstStyle>
          <a:p>
            <a:r>
              <a:rPr lang="en-US" altLang="en-US"/>
              <a:t>EGB1201 – JAVA PROGRAMMING –PROJECT REVIEW 1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E1CC88B6-4F22-9915-F447-6DDCD81CC9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649557-650C-4E1E-88E1-6690AA61EE5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1777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1.xml" /><Relationship Id="rId4" Type="http://schemas.openxmlformats.org/officeDocument/2006/relationships/image" Target="../media/image2.jpe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.jpe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.jpe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.jpe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slideLayout" Target="../slideLayouts/slideLayout2.xml" /><Relationship Id="rId1" Type="http://schemas.openxmlformats.org/officeDocument/2006/relationships/themeOverride" Target="../theme/themeOverride1.xml" /><Relationship Id="rId5" Type="http://schemas.openxmlformats.org/officeDocument/2006/relationships/image" Target="../media/image3.jpeg" /><Relationship Id="rId4" Type="http://schemas.openxmlformats.org/officeDocument/2006/relationships/image" Target="../media/image1.png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4">
            <a:extLst>
              <a:ext uri="{FF2B5EF4-FFF2-40B4-BE49-F238E27FC236}">
                <a16:creationId xmlns:a16="http://schemas.microsoft.com/office/drawing/2014/main" id="{4E6930A5-9B8F-1E53-84C7-121ACA8BB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1858537"/>
            <a:ext cx="8938418" cy="624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rIns="45720" bIns="0" anchor="b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 </a:t>
            </a:r>
          </a:p>
          <a:p>
            <a:pPr algn="ctr" eaLnBrk="1" hangingPunct="1"/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Year: 2026 – 2027 (Odd Semester)</a:t>
            </a:r>
          </a:p>
        </p:txBody>
      </p:sp>
      <p:sp>
        <p:nvSpPr>
          <p:cNvPr id="6147" name="Slide Number Placeholder 3">
            <a:extLst>
              <a:ext uri="{FF2B5EF4-FFF2-40B4-BE49-F238E27FC236}">
                <a16:creationId xmlns:a16="http://schemas.microsoft.com/office/drawing/2014/main" id="{FED27C9B-7D0B-508A-EC22-2D8A3DF5C1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C67C3B18-1B13-4272-916E-3B8D6A992976}" type="slidenum">
              <a:rPr lang="en-US" altLang="en-US" sz="1000">
                <a:solidFill>
                  <a:srgbClr val="595959"/>
                </a:solidFill>
              </a:rPr>
              <a:pPr/>
              <a:t>1</a:t>
            </a:fld>
            <a:endParaRPr lang="en-US" altLang="en-US" sz="1000">
              <a:solidFill>
                <a:srgbClr val="595959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4D8D35-1749-350A-51CB-9EDDD8A2C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63083"/>
            <a:ext cx="8077199" cy="795454"/>
          </a:xfrm>
        </p:spPr>
        <p:txBody>
          <a:bodyPr spcFirstLastPara="1">
            <a:normAutofit/>
          </a:bodyPr>
          <a:lstStyle/>
          <a:p>
            <a:pPr algn="ctr">
              <a:defRPr/>
            </a:pPr>
            <a:br>
              <a:rPr lang="en-US" sz="2000" b="1" dirty="0">
                <a:solidFill>
                  <a:srgbClr val="FF0000"/>
                </a:solidFill>
              </a:rPr>
            </a:b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AGI1242- MACHINE LEARNING TECHNIQUES </a:t>
            </a:r>
            <a:endParaRPr lang="en-US" sz="2000" b="1" dirty="0">
              <a:solidFill>
                <a:schemeClr val="accent1">
                  <a:lumMod val="50000"/>
                </a:schemeClr>
              </a:solidFill>
              <a:sym typeface="Arial"/>
            </a:endParaRPr>
          </a:p>
        </p:txBody>
      </p:sp>
      <p:pic>
        <p:nvPicPr>
          <p:cNvPr id="6151" name="Google Shape;64;p14">
            <a:extLst>
              <a:ext uri="{FF2B5EF4-FFF2-40B4-BE49-F238E27FC236}">
                <a16:creationId xmlns:a16="http://schemas.microsoft.com/office/drawing/2014/main" id="{69403B3C-15A8-86DB-2787-7DE8F59E1DE9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2039" y="157163"/>
            <a:ext cx="1160811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2626BC-9078-8C2E-5298-50B83E00CB69}"/>
              </a:ext>
            </a:extLst>
          </p:cNvPr>
          <p:cNvSpPr txBox="1"/>
          <p:nvPr/>
        </p:nvSpPr>
        <p:spPr>
          <a:xfrm>
            <a:off x="1501698" y="2483005"/>
            <a:ext cx="58283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000" b="1" dirty="0">
              <a:solidFill>
                <a:srgbClr val="FF0000"/>
              </a:solidFill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COURSE RECOMMENDATION SYSTEM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489498-CEAE-CAB0-F852-9CC9A1706EF0}"/>
              </a:ext>
            </a:extLst>
          </p:cNvPr>
          <p:cNvSpPr txBox="1"/>
          <p:nvPr/>
        </p:nvSpPr>
        <p:spPr>
          <a:xfrm>
            <a:off x="2289716" y="3336973"/>
            <a:ext cx="379884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>
                <a:solidFill>
                  <a:srgbClr val="0000FF"/>
                </a:solidFill>
              </a:rPr>
              <a:t>                       PRESENTED BY</a:t>
            </a:r>
            <a:endParaRPr lang="en-US" b="1" dirty="0">
              <a:solidFill>
                <a:srgbClr val="002060"/>
              </a:solidFill>
            </a:endParaRPr>
          </a:p>
          <a:p>
            <a:r>
              <a:rPr lang="en-IN" dirty="0"/>
              <a:t>2503811724322116   - VIDHYAA SHRI R</a:t>
            </a:r>
            <a:br>
              <a:rPr lang="en-IN" dirty="0"/>
            </a:br>
            <a:r>
              <a:rPr lang="en-IN" dirty="0"/>
              <a:t>2503811724322118   - VINOTHINI S</a:t>
            </a:r>
            <a:br>
              <a:rPr lang="en-IN" dirty="0"/>
            </a:br>
            <a:r>
              <a:rPr lang="en-IN" dirty="0"/>
              <a:t>2503811724321120   - VISHAL B</a:t>
            </a:r>
            <a:br>
              <a:rPr lang="en-IN" dirty="0"/>
            </a:br>
            <a:r>
              <a:rPr lang="en-IN" dirty="0"/>
              <a:t>2503811724321124   - VISVESWARAN S</a:t>
            </a:r>
            <a:br>
              <a:rPr lang="en-IN" dirty="0"/>
            </a:br>
            <a:r>
              <a:rPr lang="en-IN" dirty="0"/>
              <a:t>2503811724321126   - YOKESH M P M</a:t>
            </a:r>
          </a:p>
          <a:p>
            <a:br>
              <a:rPr lang="en-IN" dirty="0"/>
            </a:br>
            <a:endParaRPr lang="en-IN" dirty="0"/>
          </a:p>
        </p:txBody>
      </p:sp>
      <p:pic>
        <p:nvPicPr>
          <p:cNvPr id="5" name="Picture 4" descr="KRCT">
            <a:extLst>
              <a:ext uri="{FF2B5EF4-FFF2-40B4-BE49-F238E27FC236}">
                <a16:creationId xmlns:a16="http://schemas.microsoft.com/office/drawing/2014/main" id="{10386FF0-1868-3327-3F9D-E90444A2A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192860" cy="13056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182493" y="1183601"/>
            <a:ext cx="7939500" cy="25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19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" sz="1800" b="1" dirty="0">
                <a:solidFill>
                  <a:schemeClr val="dk1"/>
                </a:solidFill>
              </a:rPr>
              <a:t>Objective</a:t>
            </a:r>
          </a:p>
          <a:p>
            <a:pPr marL="361950" indent="-285750">
              <a:lnSpc>
                <a:spcPct val="115000"/>
              </a:lnSpc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dk1"/>
                </a:solidFill>
              </a:rPr>
              <a:t>Problem Identification</a:t>
            </a:r>
          </a:p>
          <a:p>
            <a:pPr marL="3619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" sz="1800" b="1" dirty="0">
                <a:solidFill>
                  <a:schemeClr val="dk1"/>
                </a:solidFill>
              </a:rPr>
              <a:t>Flow Diagram</a:t>
            </a:r>
          </a:p>
          <a:p>
            <a:pPr marL="419100" lvl="0" indent="-342900">
              <a:lnSpc>
                <a:spcPct val="115000"/>
              </a:lnSpc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tx1"/>
                </a:solidFill>
              </a:rPr>
              <a:t>Literature survey</a:t>
            </a:r>
            <a:endParaRPr lang="en" sz="1800" b="1" dirty="0">
              <a:solidFill>
                <a:schemeClr val="tx1"/>
              </a:solidFill>
            </a:endParaRPr>
          </a:p>
          <a:p>
            <a:pPr marL="419100" indent="-342900">
              <a:lnSpc>
                <a:spcPct val="115000"/>
              </a:lnSpc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tx1"/>
                </a:solidFill>
              </a:rPr>
              <a:t>Research methodology</a:t>
            </a:r>
          </a:p>
          <a:p>
            <a:pPr marL="419100" indent="-342900">
              <a:lnSpc>
                <a:spcPct val="115000"/>
              </a:lnSpc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tx1"/>
                </a:solidFill>
              </a:rPr>
              <a:t>Compare algorithm</a:t>
            </a:r>
          </a:p>
          <a:p>
            <a:pPr marL="361950" lvl="0" indent="-285750"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IN" sz="1800" b="1" dirty="0"/>
              <a:t>Implementation Idea</a:t>
            </a:r>
          </a:p>
          <a:p>
            <a:pPr marL="419100" lvl="0" indent="-342900"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tx1"/>
                </a:solidFill>
              </a:rPr>
              <a:t>Modules</a:t>
            </a:r>
          </a:p>
          <a:p>
            <a:pPr marL="419100" indent="-342900"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tx1"/>
                </a:solidFill>
              </a:rPr>
              <a:t>Conclusion</a:t>
            </a:r>
          </a:p>
          <a:p>
            <a:pPr marL="419100" lvl="0" indent="-342900"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IN" sz="1800" b="1" dirty="0">
              <a:solidFill>
                <a:schemeClr val="tx1"/>
              </a:solidFill>
            </a:endParaRPr>
          </a:p>
          <a:p>
            <a:pPr marL="419100" lvl="0" indent="-342900"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IN" sz="1800" b="1" dirty="0">
              <a:solidFill>
                <a:schemeClr val="tx1"/>
              </a:solidFill>
            </a:endParaRPr>
          </a:p>
          <a:p>
            <a:pPr marL="76200" lvl="0">
              <a:lnSpc>
                <a:spcPct val="115000"/>
              </a:lnSpc>
              <a:buClr>
                <a:schemeClr val="dk1"/>
              </a:buClr>
              <a:buSzPts val="2400"/>
            </a:pPr>
            <a:endParaRPr lang="en" sz="2000" b="1" dirty="0">
              <a:solidFill>
                <a:schemeClr val="tx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" sz="2400" b="1" dirty="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➢"/>
            </a:pPr>
            <a:endParaRPr sz="2400" b="1" dirty="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➢"/>
            </a:pPr>
            <a:endParaRPr sz="2400" b="1" dirty="0">
              <a:solidFill>
                <a:schemeClr val="dk1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PRESENTATION OVERVIEW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E3553134-2F63-CCE3-840E-4D6892A78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>
            <a:extLst>
              <a:ext uri="{FF2B5EF4-FFF2-40B4-BE49-F238E27FC236}">
                <a16:creationId xmlns:a16="http://schemas.microsoft.com/office/drawing/2014/main" id="{030BC34D-188A-4606-08C3-42B4094D7DE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>
            <a:extLst>
              <a:ext uri="{FF2B5EF4-FFF2-40B4-BE49-F238E27FC236}">
                <a16:creationId xmlns:a16="http://schemas.microsoft.com/office/drawing/2014/main" id="{F97F3ED1-D2B3-A8FD-1FD4-46821E65E11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238BD73A-3828-0D5B-ED72-9B5230F61CC0}"/>
              </a:ext>
            </a:extLst>
          </p:cNvPr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sz="2400" b="1" dirty="0">
                <a:solidFill>
                  <a:srgbClr val="FF0000"/>
                </a:solidFill>
              </a:rPr>
              <a:t>OBJECTIVE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FAEFD2-A77F-EBCA-B577-C6C95A16FE16}"/>
              </a:ext>
            </a:extLst>
          </p:cNvPr>
          <p:cNvSpPr txBox="1"/>
          <p:nvPr/>
        </p:nvSpPr>
        <p:spPr>
          <a:xfrm>
            <a:off x="542693" y="1556552"/>
            <a:ext cx="7225990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To develop a personalized course recommendation system.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To </a:t>
            </a:r>
            <a:r>
              <a:rPr lang="en-IN" sz="1800" dirty="0" err="1"/>
              <a:t>analyze</a:t>
            </a:r>
            <a:r>
              <a:rPr lang="en-IN" sz="1800" dirty="0"/>
              <a:t> student skills, interests, and preferences.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To recommend relevant courses using Machine Learning.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To rank courses based on their similarity and relevance.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To improve the student's learning experience.</a:t>
            </a:r>
          </a:p>
        </p:txBody>
      </p:sp>
    </p:spTree>
    <p:extLst>
      <p:ext uri="{BB962C8B-B14F-4D97-AF65-F5344CB8AC3E}">
        <p14:creationId xmlns:p14="http://schemas.microsoft.com/office/powerpoint/2010/main" val="2296469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PROBLEM IDENTIFICATION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B26431-4962-AF65-B522-42C0CBA260B4}"/>
              </a:ext>
            </a:extLst>
          </p:cNvPr>
          <p:cNvSpPr txBox="1"/>
          <p:nvPr/>
        </p:nvSpPr>
        <p:spPr>
          <a:xfrm>
            <a:off x="438615" y="1556552"/>
            <a:ext cx="8080917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Students face difficulty choosing the right course from numerous options.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Generic course lists do not consider individual interests and skills.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Manual course selection is time-consuming.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Students may choose courses that do not match their skill level.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A personalized recommendation system can solve this problem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7;p17">
            <a:extLst>
              <a:ext uri="{FF2B5EF4-FFF2-40B4-BE49-F238E27FC236}">
                <a16:creationId xmlns:a16="http://schemas.microsoft.com/office/drawing/2014/main" id="{CA016C41-91F5-CB2C-015F-8DA0A62790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56117"/>
            <a:ext cx="8401120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indent="0" algn="ctr">
              <a:buSzPts val="2400"/>
              <a:buNone/>
            </a:pPr>
            <a:r>
              <a:rPr lang="en" sz="2400" b="1" dirty="0">
                <a:solidFill>
                  <a:srgbClr val="FF0000"/>
                </a:solidFill>
              </a:rPr>
              <a:t>FLOW DIAGRAM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7555A6-379A-9572-FCF3-13CD53109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528" y="650715"/>
            <a:ext cx="6274418" cy="4519715"/>
          </a:xfrm>
          <a:prstGeom prst="rect">
            <a:avLst/>
          </a:prstGeom>
        </p:spPr>
      </p:pic>
      <p:pic>
        <p:nvPicPr>
          <p:cNvPr id="3" name="Google Shape;85;p17">
            <a:extLst>
              <a:ext uri="{FF2B5EF4-FFF2-40B4-BE49-F238E27FC236}">
                <a16:creationId xmlns:a16="http://schemas.microsoft.com/office/drawing/2014/main" id="{2F74DF28-2223-E9DB-8A70-B73DCC4CC8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" y="0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6;p17">
            <a:extLst>
              <a:ext uri="{FF2B5EF4-FFF2-40B4-BE49-F238E27FC236}">
                <a16:creationId xmlns:a16="http://schemas.microsoft.com/office/drawing/2014/main" id="{1069C205-AF9E-FA64-E7CB-620985FB289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8993D-804C-C2C1-8C3F-84184D9E1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LITERATURE SURVEY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8DDD4-641D-D4E9-4CC8-E9EE6C0C8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058" y="1152525"/>
            <a:ext cx="7463884" cy="3416350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2FE5BDC-7711-C6CB-B470-0DC42525E3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267571"/>
              </p:ext>
            </p:extLst>
          </p:nvPr>
        </p:nvGraphicFramePr>
        <p:xfrm>
          <a:off x="840058" y="1152525"/>
          <a:ext cx="7471316" cy="3416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7829">
                  <a:extLst>
                    <a:ext uri="{9D8B030D-6E8A-4147-A177-3AD203B41FA5}">
                      <a16:colId xmlns:a16="http://schemas.microsoft.com/office/drawing/2014/main" val="977878048"/>
                    </a:ext>
                  </a:extLst>
                </a:gridCol>
                <a:gridCol w="1867829">
                  <a:extLst>
                    <a:ext uri="{9D8B030D-6E8A-4147-A177-3AD203B41FA5}">
                      <a16:colId xmlns:a16="http://schemas.microsoft.com/office/drawing/2014/main" val="48623343"/>
                    </a:ext>
                  </a:extLst>
                </a:gridCol>
                <a:gridCol w="1867829">
                  <a:extLst>
                    <a:ext uri="{9D8B030D-6E8A-4147-A177-3AD203B41FA5}">
                      <a16:colId xmlns:a16="http://schemas.microsoft.com/office/drawing/2014/main" val="2183855289"/>
                    </a:ext>
                  </a:extLst>
                </a:gridCol>
                <a:gridCol w="1867829">
                  <a:extLst>
                    <a:ext uri="{9D8B030D-6E8A-4147-A177-3AD203B41FA5}">
                      <a16:colId xmlns:a16="http://schemas.microsoft.com/office/drawing/2014/main" val="3631226650"/>
                    </a:ext>
                  </a:extLst>
                </a:gridCol>
              </a:tblGrid>
              <a:tr h="183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S.No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Year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Research Paper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Technique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1973007638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1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2023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Systematic Review of Recommendation Systems for Course Selection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Machine Learning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365142954"/>
                  </a:ext>
                </a:extLst>
              </a:tr>
              <a:tr h="697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2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2023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DORIS: Personalized Course Recommendation System Based on Deep Learning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Deep Learning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3610056284"/>
                  </a:ext>
                </a:extLst>
              </a:tr>
              <a:tr h="697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3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2023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Analytical Review and Study on Various Course Recommendation Systems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ML &amp; Data Mining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244159166"/>
                  </a:ext>
                </a:extLst>
              </a:tr>
              <a:tr h="697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4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2023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Course Recommendation Based on Enhancement of Meta-Path Embedding in Heterogeneous Graph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Graph Embedding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875069109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5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2023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Machine Learning Based MOOC Course Recommendation System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Machine Learning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26403373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8456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0CE35-8ABC-50A7-CF50-B23ED2947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LITERATURE SURVEY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0CE33-F13D-5A87-45D2-274D75277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060" y="1152525"/>
            <a:ext cx="7471316" cy="3416350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C86FCA-C231-E253-417C-C721B0A22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924630"/>
              </p:ext>
            </p:extLst>
          </p:nvPr>
        </p:nvGraphicFramePr>
        <p:xfrm>
          <a:off x="832624" y="1152525"/>
          <a:ext cx="7471316" cy="34162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7829">
                  <a:extLst>
                    <a:ext uri="{9D8B030D-6E8A-4147-A177-3AD203B41FA5}">
                      <a16:colId xmlns:a16="http://schemas.microsoft.com/office/drawing/2014/main" val="3777241770"/>
                    </a:ext>
                  </a:extLst>
                </a:gridCol>
                <a:gridCol w="1867829">
                  <a:extLst>
                    <a:ext uri="{9D8B030D-6E8A-4147-A177-3AD203B41FA5}">
                      <a16:colId xmlns:a16="http://schemas.microsoft.com/office/drawing/2014/main" val="1380519670"/>
                    </a:ext>
                  </a:extLst>
                </a:gridCol>
                <a:gridCol w="1867829">
                  <a:extLst>
                    <a:ext uri="{9D8B030D-6E8A-4147-A177-3AD203B41FA5}">
                      <a16:colId xmlns:a16="http://schemas.microsoft.com/office/drawing/2014/main" val="3933233573"/>
                    </a:ext>
                  </a:extLst>
                </a:gridCol>
                <a:gridCol w="1867829">
                  <a:extLst>
                    <a:ext uri="{9D8B030D-6E8A-4147-A177-3AD203B41FA5}">
                      <a16:colId xmlns:a16="http://schemas.microsoft.com/office/drawing/2014/main" val="1835538573"/>
                    </a:ext>
                  </a:extLst>
                </a:gridCol>
              </a:tblGrid>
              <a:tr h="198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S.No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Year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Research Paper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Technique</a:t>
                      </a:r>
                    </a:p>
                  </a:txBody>
                  <a:tcPr marL="59587" marR="59587" marT="29793" marB="29793" anchor="ctr"/>
                </a:tc>
                <a:extLst>
                  <a:ext uri="{0D108BD9-81ED-4DB2-BD59-A6C34878D82A}">
                    <a16:rowId xmlns:a16="http://schemas.microsoft.com/office/drawing/2014/main" val="700604210"/>
                  </a:ext>
                </a:extLst>
              </a:tr>
              <a:tr h="615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6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2024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Dynamic Educational Recommender System Based on Improved LSTM Neural Network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LSTM</a:t>
                      </a:r>
                    </a:p>
                  </a:txBody>
                  <a:tcPr marL="59587" marR="59587" marT="29793" marB="29793" anchor="ctr"/>
                </a:tc>
                <a:extLst>
                  <a:ext uri="{0D108BD9-81ED-4DB2-BD59-A6C34878D82A}">
                    <a16:rowId xmlns:a16="http://schemas.microsoft.com/office/drawing/2014/main" val="520502335"/>
                  </a:ext>
                </a:extLst>
              </a:tr>
              <a:tr h="754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7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2024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Extracting Course Features and Learner Profiling for Course Recommendation Systems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NLP &amp; ML</a:t>
                      </a:r>
                    </a:p>
                  </a:txBody>
                  <a:tcPr marL="59587" marR="59587" marT="29793" marB="29793" anchor="ctr"/>
                </a:tc>
                <a:extLst>
                  <a:ext uri="{0D108BD9-81ED-4DB2-BD59-A6C34878D82A}">
                    <a16:rowId xmlns:a16="http://schemas.microsoft.com/office/drawing/2014/main" val="2083793231"/>
                  </a:ext>
                </a:extLst>
              </a:tr>
              <a:tr h="476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8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2024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Session-Based Methods for Course Recommendation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Session-Based ML</a:t>
                      </a:r>
                    </a:p>
                  </a:txBody>
                  <a:tcPr marL="59587" marR="59587" marT="29793" marB="29793" anchor="ctr"/>
                </a:tc>
                <a:extLst>
                  <a:ext uri="{0D108BD9-81ED-4DB2-BD59-A6C34878D82A}">
                    <a16:rowId xmlns:a16="http://schemas.microsoft.com/office/drawing/2014/main" val="3836290077"/>
                  </a:ext>
                </a:extLst>
              </a:tr>
              <a:tr h="754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9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2024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A Course Recommender System Built on Success to Support Students at Risk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KNN</a:t>
                      </a:r>
                    </a:p>
                  </a:txBody>
                  <a:tcPr marL="59587" marR="59587" marT="29793" marB="29793" anchor="ctr"/>
                </a:tc>
                <a:extLst>
                  <a:ext uri="{0D108BD9-81ED-4DB2-BD59-A6C34878D82A}">
                    <a16:rowId xmlns:a16="http://schemas.microsoft.com/office/drawing/2014/main" val="484059398"/>
                  </a:ext>
                </a:extLst>
              </a:tr>
              <a:tr h="615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10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2024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Machine Learning Recommender System for Enhanced Student Course Selection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Machine Learning</a:t>
                      </a:r>
                    </a:p>
                  </a:txBody>
                  <a:tcPr marL="59587" marR="59587" marT="29793" marB="29793" anchor="ctr"/>
                </a:tc>
                <a:extLst>
                  <a:ext uri="{0D108BD9-81ED-4DB2-BD59-A6C34878D82A}">
                    <a16:rowId xmlns:a16="http://schemas.microsoft.com/office/drawing/2014/main" val="39780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5815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5B44A-0A1E-56CF-904B-1E6F22BF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04800"/>
            <a:ext cx="8520600" cy="76757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LITERATURE SURVEY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39760-A934-4B7E-1511-D72A76B05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4136" y="1152525"/>
            <a:ext cx="7211125" cy="3453105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3D311B-DAFA-9835-0AFF-4EA5B5B062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233217"/>
              </p:ext>
            </p:extLst>
          </p:nvPr>
        </p:nvGraphicFramePr>
        <p:xfrm>
          <a:off x="944137" y="1152525"/>
          <a:ext cx="7211124" cy="34162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2781">
                  <a:extLst>
                    <a:ext uri="{9D8B030D-6E8A-4147-A177-3AD203B41FA5}">
                      <a16:colId xmlns:a16="http://schemas.microsoft.com/office/drawing/2014/main" val="407569760"/>
                    </a:ext>
                  </a:extLst>
                </a:gridCol>
                <a:gridCol w="1802781">
                  <a:extLst>
                    <a:ext uri="{9D8B030D-6E8A-4147-A177-3AD203B41FA5}">
                      <a16:colId xmlns:a16="http://schemas.microsoft.com/office/drawing/2014/main" val="16515156"/>
                    </a:ext>
                  </a:extLst>
                </a:gridCol>
                <a:gridCol w="1802781">
                  <a:extLst>
                    <a:ext uri="{9D8B030D-6E8A-4147-A177-3AD203B41FA5}">
                      <a16:colId xmlns:a16="http://schemas.microsoft.com/office/drawing/2014/main" val="2515225949"/>
                    </a:ext>
                  </a:extLst>
                </a:gridCol>
                <a:gridCol w="1802781">
                  <a:extLst>
                    <a:ext uri="{9D8B030D-6E8A-4147-A177-3AD203B41FA5}">
                      <a16:colId xmlns:a16="http://schemas.microsoft.com/office/drawing/2014/main" val="2883122531"/>
                    </a:ext>
                  </a:extLst>
                </a:gridCol>
              </a:tblGrid>
              <a:tr h="183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S.No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Year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Research Paper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Technique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3608561025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11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2024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Research of Online Courses Recommendation Based on Deep Learning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Deep Learning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1007752368"/>
                  </a:ext>
                </a:extLst>
              </a:tr>
              <a:tr h="697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12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2025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An Efficient Course Recommendation System for Higher Education Students Using ML Techniques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Machine Learning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1404482138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13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2025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Personalized Course Recommendation System: A Multi-Model ML Framework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Multi-Model ML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744870317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14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2026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DRG: A Dual Relational Graph Framework for Course Recommendation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Graph Neural Network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783831665"/>
                  </a:ext>
                </a:extLst>
              </a:tr>
              <a:tr h="826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15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2026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Learning Like a Human: Zero-Shot Personalized Course Recommendation via Cognitive Diagnosis and LLM Agents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LLM &amp; ML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3220073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0606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9673C-C80C-4334-99F0-53A471883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RESEARCH 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13475-714E-FA50-E260-E463B3833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11902"/>
            <a:ext cx="8520600" cy="3456973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E3380E-F913-016C-94D5-0E41898D42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89" b="3127"/>
          <a:stretch>
            <a:fillRect/>
          </a:stretch>
        </p:blipFill>
        <p:spPr>
          <a:xfrm>
            <a:off x="553844" y="1017725"/>
            <a:ext cx="8036311" cy="345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374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FDE2D-219F-6088-8688-5E3FE31D6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COMPARE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618DC-8B39-198C-81DD-61DF1BF56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6312" y="1152474"/>
            <a:ext cx="8415988" cy="3724327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88BA2D4-E9CF-E98C-1A58-F1CD7E0A4D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030079"/>
              </p:ext>
            </p:extLst>
          </p:nvPr>
        </p:nvGraphicFramePr>
        <p:xfrm>
          <a:off x="416312" y="1150216"/>
          <a:ext cx="8415988" cy="37265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997">
                  <a:extLst>
                    <a:ext uri="{9D8B030D-6E8A-4147-A177-3AD203B41FA5}">
                      <a16:colId xmlns:a16="http://schemas.microsoft.com/office/drawing/2014/main" val="1503142260"/>
                    </a:ext>
                  </a:extLst>
                </a:gridCol>
                <a:gridCol w="2103997">
                  <a:extLst>
                    <a:ext uri="{9D8B030D-6E8A-4147-A177-3AD203B41FA5}">
                      <a16:colId xmlns:a16="http://schemas.microsoft.com/office/drawing/2014/main" val="2444899382"/>
                    </a:ext>
                  </a:extLst>
                </a:gridCol>
                <a:gridCol w="2103997">
                  <a:extLst>
                    <a:ext uri="{9D8B030D-6E8A-4147-A177-3AD203B41FA5}">
                      <a16:colId xmlns:a16="http://schemas.microsoft.com/office/drawing/2014/main" val="2976660887"/>
                    </a:ext>
                  </a:extLst>
                </a:gridCol>
                <a:gridCol w="2103997">
                  <a:extLst>
                    <a:ext uri="{9D8B030D-6E8A-4147-A177-3AD203B41FA5}">
                      <a16:colId xmlns:a16="http://schemas.microsoft.com/office/drawing/2014/main" val="236596936"/>
                    </a:ext>
                  </a:extLst>
                </a:gridCol>
              </a:tblGrid>
              <a:tr h="483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Criteria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Content-Based Filtering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Collaborative Filtering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Hybrid Recommendation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2581090906"/>
                  </a:ext>
                </a:extLst>
              </a:tr>
              <a:tr h="483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1. Input Data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Student &amp; course features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Student-course history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Both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3568778576"/>
                  </a:ext>
                </a:extLst>
              </a:tr>
              <a:tr h="483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2. Technique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TF-IDF + Cosine Similarity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KNN / Matrix Factorization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CBF + CF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3426057902"/>
                  </a:ext>
                </a:extLst>
              </a:tr>
              <a:tr h="284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3. Personalization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High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High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Very High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4172553527"/>
                  </a:ext>
                </a:extLst>
              </a:tr>
              <a:tr h="284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4. Data Requirement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Low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High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Medium–High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3652293192"/>
                  </a:ext>
                </a:extLst>
              </a:tr>
              <a:tr h="284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5. Implementation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Easy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Moderate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Complex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3396940917"/>
                  </a:ext>
                </a:extLst>
              </a:tr>
              <a:tr h="284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6. Accuracy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Good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Good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Very Good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1855344795"/>
                  </a:ext>
                </a:extLst>
              </a:tr>
              <a:tr h="284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7. Cold Start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Low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High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Low–Medium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3343339035"/>
                  </a:ext>
                </a:extLst>
              </a:tr>
              <a:tr h="284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8. Explainability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High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Medium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High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284038324"/>
                  </a:ext>
                </a:extLst>
              </a:tr>
              <a:tr h="284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9. Scalability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Good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Very Good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Good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119787469"/>
                  </a:ext>
                </a:extLst>
              </a:tr>
              <a:tr h="284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10. Project Suitability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Excellent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Good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Very Good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3803616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2850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EE3E7-F443-1E65-C800-ECFB95B5B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IMPLEMENTION IDEA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285E7-D29D-190C-A3DF-601ED9E2F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657418"/>
          </a:xfrm>
        </p:spPr>
        <p:txBody>
          <a:bodyPr>
            <a:normAutofit fontScale="62500" lnSpcReduction="20000"/>
          </a:bodyPr>
          <a:lstStyle/>
          <a:p>
            <a:pPr lvl="0">
              <a:lnSpc>
                <a:spcPct val="22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</a:rPr>
              <a:t>Collect student details such as skills, interests, preferred domain, and academic performance.</a:t>
            </a:r>
          </a:p>
          <a:p>
            <a:pPr lvl="0">
              <a:lnSpc>
                <a:spcPct val="22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</a:rPr>
              <a:t>Collect course details such as course name, description, category, skills, and difficulty level.</a:t>
            </a:r>
          </a:p>
          <a:p>
            <a:pPr lvl="0">
              <a:lnSpc>
                <a:spcPct val="22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</a:rPr>
              <a:t>Preprocess the data by removing missing, duplicate, and unnecessary information.</a:t>
            </a:r>
          </a:p>
          <a:p>
            <a:pPr lvl="0">
              <a:lnSpc>
                <a:spcPct val="22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</a:rPr>
              <a:t>Apply TF-IDF to convert student interests and course descriptions into numerical vectors.</a:t>
            </a:r>
          </a:p>
          <a:p>
            <a:pPr lvl="0">
              <a:lnSpc>
                <a:spcPct val="22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</a:rPr>
              <a:t>Calculate Cosine Similarity to measure the match between the student profile and each course.</a:t>
            </a:r>
          </a:p>
          <a:p>
            <a:pPr lvl="0">
              <a:lnSpc>
                <a:spcPct val="22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</a:rPr>
              <a:t>Rank the courses according to their similarity scores.</a:t>
            </a:r>
          </a:p>
          <a:p>
            <a:pPr lvl="0">
              <a:lnSpc>
                <a:spcPct val="22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</a:rPr>
              <a:t>Recommend the Top-N most suitable courses to the student through a user-friendly interface.</a:t>
            </a:r>
          </a:p>
          <a:p>
            <a:pPr marL="114300" indent="0">
              <a:lnSpc>
                <a:spcPct val="170000"/>
              </a:lnSpc>
              <a:buNone/>
            </a:pPr>
            <a:r>
              <a:rPr lang="en-IN" sz="2000" b="1" dirty="0">
                <a:solidFill>
                  <a:schemeClr val="tx1"/>
                </a:solidFill>
              </a:rPr>
              <a:t>Flow:</a:t>
            </a:r>
            <a:br>
              <a:rPr lang="en-IN" sz="2000" dirty="0">
                <a:solidFill>
                  <a:srgbClr val="C00000"/>
                </a:solidFill>
              </a:rPr>
            </a:br>
            <a:r>
              <a:rPr lang="en-IN" sz="2000" dirty="0">
                <a:solidFill>
                  <a:srgbClr val="C00000"/>
                </a:solidFill>
              </a:rPr>
              <a:t>Student Data → Preprocessing → TF-IDF → Cosine Similarity → Course Ranking → Top-N Recommendations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1679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459FA-9D9D-32BF-193A-36E1CD3F7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19E6E-C6DF-6EA7-170A-0F1B250BD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</a:rPr>
              <a:t>Student Profile Module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marL="114300" lvl="0" indent="0">
              <a:buNone/>
            </a:pPr>
            <a:r>
              <a:rPr lang="en-IN" sz="1800" dirty="0"/>
              <a:t>            </a:t>
            </a:r>
            <a:r>
              <a:rPr lang="en-IN" sz="1800" dirty="0">
                <a:solidFill>
                  <a:schemeClr val="tx1"/>
                </a:solidFill>
              </a:rPr>
              <a:t>Collects student skills, interests, and experience</a:t>
            </a:r>
            <a:r>
              <a:rPr lang="en-IN" sz="1800" dirty="0"/>
              <a:t>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</a:rPr>
              <a:t>Course Dataset Module</a:t>
            </a:r>
            <a:r>
              <a:rPr lang="en-IN" dirty="0">
                <a:solidFill>
                  <a:schemeClr val="tx1"/>
                </a:solidFill>
              </a:rPr>
              <a:t>   </a:t>
            </a:r>
          </a:p>
          <a:p>
            <a:pPr marL="114300" lvl="0" indent="0">
              <a:buNone/>
            </a:pPr>
            <a:r>
              <a:rPr lang="en-IN" sz="1800" dirty="0"/>
              <a:t>       </a:t>
            </a:r>
            <a:r>
              <a:rPr lang="en-IN" sz="1800" dirty="0">
                <a:solidFill>
                  <a:schemeClr val="tx1"/>
                </a:solidFill>
              </a:rPr>
              <a:t>Stores course names, categories, skills, ratings, and descriptions</a:t>
            </a:r>
            <a:r>
              <a:rPr lang="en-IN" sz="1800" dirty="0"/>
              <a:t>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</a:rPr>
              <a:t>Data Preprocessing Module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marL="114300" lvl="0" indent="0">
              <a:buNone/>
            </a:pPr>
            <a:r>
              <a:rPr lang="en-IN" sz="1800" dirty="0"/>
              <a:t>        </a:t>
            </a:r>
            <a:r>
              <a:rPr lang="en-IN" sz="1800" dirty="0">
                <a:solidFill>
                  <a:schemeClr val="tx1"/>
                </a:solidFill>
              </a:rPr>
              <a:t>Cleans and prepares the dataset</a:t>
            </a:r>
            <a:r>
              <a:rPr lang="en-IN" sz="1800" dirty="0"/>
              <a:t>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</a:rPr>
              <a:t>Recommendation Module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marL="596900" lvl="1" indent="0">
              <a:buNone/>
            </a:pPr>
            <a:r>
              <a:rPr lang="en-IN" sz="1800" dirty="0">
                <a:solidFill>
                  <a:schemeClr val="tx1"/>
                </a:solidFill>
              </a:rPr>
              <a:t>Calculates similarity between student preferences and courses</a:t>
            </a:r>
            <a:r>
              <a:rPr lang="en-IN" sz="1800" dirty="0"/>
              <a:t>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</a:rPr>
              <a:t>Result Module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marL="596900" lvl="1" indent="0">
              <a:buNone/>
            </a:pPr>
            <a:r>
              <a:rPr lang="en-IN" sz="1800" dirty="0">
                <a:solidFill>
                  <a:schemeClr val="tx1"/>
                </a:solidFill>
              </a:rPr>
              <a:t>Displays the top recommended courses.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6" name="Google Shape;86;p17">
            <a:extLst>
              <a:ext uri="{FF2B5EF4-FFF2-40B4-BE49-F238E27FC236}">
                <a16:creationId xmlns:a16="http://schemas.microsoft.com/office/drawing/2014/main" id="{210B65D5-8001-16A6-27AB-CDC50444E4C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85;p17">
            <a:extLst>
              <a:ext uri="{FF2B5EF4-FFF2-40B4-BE49-F238E27FC236}">
                <a16:creationId xmlns:a16="http://schemas.microsoft.com/office/drawing/2014/main" id="{93684B25-4B5C-339D-BA63-7DA721ACBF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0"/>
            <a:ext cx="762558" cy="7623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2907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29AB7-FEA0-A8B3-E130-B9F0DB74C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3D8E6-1EF0-736C-B1A7-A6B48E70D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The Course Recommendation System helps students select suitable courses.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Machine Learning enables personalized and intelligent recommendations.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Content-Based Filtering and Cosine Similarity provide an effective basic recommendation approach.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The system can be further enhanced using advanced recommendation algorithms. </a:t>
            </a: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5" name="Google Shape;85;p17">
            <a:extLst>
              <a:ext uri="{FF2B5EF4-FFF2-40B4-BE49-F238E27FC236}">
                <a16:creationId xmlns:a16="http://schemas.microsoft.com/office/drawing/2014/main" id="{6C037165-71CB-1F8C-8F13-E756758239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401" y="152400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86;p17">
            <a:extLst>
              <a:ext uri="{FF2B5EF4-FFF2-40B4-BE49-F238E27FC236}">
                <a16:creationId xmlns:a16="http://schemas.microsoft.com/office/drawing/2014/main" id="{B74BA91D-C071-165F-13F2-73BBFDDCB85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5803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/>
        </p:nvSpPr>
        <p:spPr>
          <a:xfrm>
            <a:off x="38100" y="1835250"/>
            <a:ext cx="90678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>
                <a:solidFill>
                  <a:schemeClr val="dk1"/>
                </a:solidFill>
              </a:rPr>
              <a:t>THANK YOU</a:t>
            </a:r>
            <a:endParaRPr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4285F4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</TotalTime>
  <Words>722</Words>
  <Application>Microsoft Office PowerPoint</Application>
  <PresentationFormat>On-screen Show (16:9)</PresentationFormat>
  <Paragraphs>183</Paragraphs>
  <Slides>14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Simple Light</vt:lpstr>
      <vt:lpstr> AGI1242- MACHINE LEARNING TECHNIQUES </vt:lpstr>
      <vt:lpstr>PowerPoint Presentation</vt:lpstr>
      <vt:lpstr>PowerPoint Presentation</vt:lpstr>
      <vt:lpstr>PowerPoint Presentation</vt:lpstr>
      <vt:lpstr>PowerPoint Presentation</vt:lpstr>
      <vt:lpstr>LITERATURE SURVEY</vt:lpstr>
      <vt:lpstr>LITERATURE SURVEY</vt:lpstr>
      <vt:lpstr>LITERATURE SURVEY</vt:lpstr>
      <vt:lpstr>RESEARCH METHODOLOGY</vt:lpstr>
      <vt:lpstr>COMPARE ALGORITHM</vt:lpstr>
      <vt:lpstr>IMPLEMENTION IDEA</vt:lpstr>
      <vt:lpstr>MODULES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NAKUL R</dc:creator>
  <cp:lastModifiedBy>VISVESWARAN S</cp:lastModifiedBy>
  <cp:revision>16</cp:revision>
  <dcterms:modified xsi:type="dcterms:W3CDTF">2026-10-04T17:57:15Z</dcterms:modified>
</cp:coreProperties>
</file>